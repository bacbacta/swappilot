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6FF6A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FCC55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D3FC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AAFDC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A5A5A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4A4A4A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3A3A3A"/>
              </a:solidFill>
              <a:ln w="12700" cap="flat">
                <a:solidFill>
                  <a:srgbClr val="07080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Public Sale</c:v>
                </c:pt>
                <c:pt idx="1">
                  <c:v>Treasury</c:v>
                </c:pt>
                <c:pt idx="2">
                  <c:v>CEX &amp; Marketing</c:v>
                </c:pt>
                <c:pt idx="3">
                  <c:v>Liquidity</c:v>
                </c:pt>
                <c:pt idx="4">
                  <c:v>Team</c:v>
                </c:pt>
                <c:pt idx="5">
                  <c:v>Advisors</c:v>
                </c:pt>
                <c:pt idx="6">
                  <c:v>Referral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35</c:v>
                </c:pt>
                <c:pt idx="1">
                  <c:v>20</c:v>
                </c:pt>
                <c:pt idx="2">
                  <c:v>12</c:v>
                </c:pt>
                <c:pt idx="3">
                  <c:v>12</c:v>
                </c:pt>
                <c:pt idx="4">
                  <c:v>11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firstSliceAng val="0"/>
        <c:holeSize val="65"/>
      </c:doughnutChart>
      <c:spPr>
        <a:solidFill>
          <a:srgbClr val="07080B"/>
        </a:solidFill>
        <a:ln>
          <a:noFill/>
        </a:ln>
        <a:effectLst/>
      </c:spPr>
    </c:plotArea>
    <c:plotVisOnly val="1"/>
    <c:dispBlanksAs val="span"/>
  </c:chart>
  <c:spPr>
    <a:solidFill>
      <a:srgbClr val="0708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pp-swappilot.xyz" TargetMode="External"/><Relationship Id="rId2" Type="http://schemas.openxmlformats.org/officeDocument/2006/relationships/hyperlink" Target="https://swappilot.gitbook.io/untitled" TargetMode="External"/><Relationship Id="rId4" Type="http://schemas.openxmlformats.org/officeDocument/2006/relationships/hyperlink" Target="https://app-swappilot.xyz" TargetMode="External"/><Relationship Id="rId5" Type="http://schemas.openxmlformats.org/officeDocument/2006/relationships/hyperlink" Target="https://x.com/swappilotdex" TargetMode="External"/><Relationship Id="rId6" Type="http://schemas.openxmlformats.org/officeDocument/2006/relationships/hyperlink" Target="https://t.me/swapPilot" TargetMode="External"/><Relationship Id="rId7" Type="http://schemas.openxmlformats.org/officeDocument/2006/relationships/hyperlink" Target="https://github.com/BacBacta/SwapPilot" TargetMode="External"/><Relationship Id="rId3" Type="http://schemas.openxmlformats.org/officeDocument/2006/relationships/image" Target="../media/image-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pp-swappilot.xyz" TargetMode="External"/><Relationship Id="rId2" Type="http://schemas.openxmlformats.org/officeDocument/2006/relationships/hyperlink" Target="https://swappilot.gitbook.io/untitled" TargetMode="External"/><Relationship Id="rId3" Type="http://schemas.openxmlformats.org/officeDocument/2006/relationships/hyperlink" Target="https://x.com/swappilotdex" TargetMode="External"/><Relationship Id="rId4" Type="http://schemas.openxmlformats.org/officeDocument/2006/relationships/hyperlink" Target="https://t.me/swapPilot" TargetMode="External"/><Relationship Id="rId5" Type="http://schemas.openxmlformats.org/officeDocument/2006/relationships/hyperlink" Target="https://app-swappilot.xyz" TargetMode="External"/><Relationship Id="rId6" Type="http://schemas.openxmlformats.org/officeDocument/2006/relationships/hyperlink" Target="https://x.com/swappilotdex" TargetMode="External"/><Relationship Id="rId7" Type="http://schemas.openxmlformats.org/officeDocument/2006/relationships/hyperlink" Target="https://t.me/swapPilot" TargetMode="External"/><Relationship Id="rId8" Type="http://schemas.openxmlformats.org/officeDocument/2006/relationships/hyperlink" Target="https://github.com/BacBacta/SwapPilot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1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280160" cy="320040"/>
          </a:xfrm>
          <a:prstGeom prst="roundRect">
            <a:avLst>
              <a:gd name="adj" fmla="val 51429"/>
            </a:avLst>
          </a:prstGeom>
          <a:solidFill>
            <a:srgbClr val="0D111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70432"/>
            <a:ext cx="109728" cy="109728"/>
          </a:xfrm>
          <a:prstGeom prst="ellipse">
            <a:avLst/>
          </a:prstGeom>
          <a:solidFill>
            <a:srgbClr val="B6FF6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115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BNB Chain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097280"/>
            <a:ext cx="1280160" cy="320040"/>
          </a:xfrm>
          <a:prstGeom prst="roundRect">
            <a:avLst>
              <a:gd name="adj" fmla="val 51429"/>
            </a:avLst>
          </a:prstGeom>
          <a:solidFill>
            <a:srgbClr val="0D111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170432"/>
            <a:ext cx="109728" cy="109728"/>
          </a:xfrm>
          <a:prstGeom prst="ellipse">
            <a:avLst/>
          </a:prstGeom>
          <a:solidFill>
            <a:srgbClr val="B6FF6A"/>
          </a:solidFill>
          <a:ln/>
        </p:spPr>
      </p:sp>
      <p:sp>
        <p:nvSpPr>
          <p:cNvPr id="11" name="Text 9"/>
          <p:cNvSpPr/>
          <p:nvPr/>
        </p:nvSpPr>
        <p:spPr>
          <a:xfrm>
            <a:off x="2084832" y="1115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BEQ Ranking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1280160" cy="320040"/>
          </a:xfrm>
          <a:prstGeom prst="roundRect">
            <a:avLst>
              <a:gd name="adj" fmla="val 51429"/>
            </a:avLst>
          </a:prstGeom>
          <a:solidFill>
            <a:srgbClr val="0D111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70432"/>
            <a:ext cx="109728" cy="109728"/>
          </a:xfrm>
          <a:prstGeom prst="ellipse">
            <a:avLst/>
          </a:prstGeom>
          <a:solidFill>
            <a:srgbClr val="B6FF6A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115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Non-custodial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Safer swaps on
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B6FF6A"/>
                </a:solidFill>
              </a:rPr>
              <a:t>BNB Chain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.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SwapPilot is a DEX aggregator that ranks quotes into BEQ (Best Executable Quote) and optimizes for execution safety before you sign.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645920" cy="457200"/>
          </a:xfrm>
          <a:prstGeom prst="roundRect">
            <a:avLst>
              <a:gd name="adj" fmla="val 60000"/>
            </a:avLst>
          </a:prstGeom>
          <a:solidFill>
            <a:srgbClr val="B6FF6A"/>
          </a:solidFill>
          <a:ln w="12700">
            <a:solidFill>
              <a:srgbClr val="B6FF6A"/>
            </a:solidFill>
            <a:prstDash val="solid"/>
          </a:ln>
        </p:spPr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45720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7080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app 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4206240"/>
            <a:ext cx="1645920" cy="457200"/>
          </a:xfrm>
          <a:prstGeom prst="roundRect">
            <a:avLst>
              <a:gd name="adj" fmla="val 60000"/>
            </a:avLst>
          </a:prstGeom>
          <a:solidFill>
            <a:srgbClr val="0D1117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>
            <a:hlinkClick r:id="rId2" tooltip=""/>
          </p:cNvPr>
          <p:cNvSpPr/>
          <p:nvPr/>
        </p:nvSpPr>
        <p:spPr>
          <a:xfrm>
            <a:off x="228600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docs 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5303520" cy="502920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280160"/>
            <a:ext cx="109728" cy="109728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0" y="1280160"/>
            <a:ext cx="109728" cy="109728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1280160"/>
            <a:ext cx="109728" cy="109728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app-swappilot.xyz</a:t>
            </a:r>
            <a:endParaRPr lang="en-US" sz="1000" dirty="0"/>
          </a:p>
        </p:txBody>
      </p:sp>
      <p:pic>
        <p:nvPicPr>
          <p:cNvPr id="26" name="Image 0" descr="./assets/hero-swap-w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54480"/>
            <a:ext cx="5029200" cy="4480560"/>
          </a:xfrm>
          <a:prstGeom prst="rect">
            <a:avLst/>
          </a:prstGeom>
        </p:spPr>
      </p:pic>
      <p:sp>
        <p:nvSpPr>
          <p:cNvPr id="27" name="Text 24">
            <a:hlinkClick r:id="rId4" tooltip=""/>
          </p:cNvPr>
          <p:cNvSpPr/>
          <p:nvPr/>
        </p:nvSpPr>
        <p:spPr>
          <a:xfrm>
            <a:off x="45720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A0A0A0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app-swappilot.xyz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423160" y="6309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·</a:t>
            </a:r>
            <a:endParaRPr lang="en-US" sz="1000" dirty="0"/>
          </a:p>
        </p:txBody>
      </p:sp>
      <p:sp>
        <p:nvSpPr>
          <p:cNvPr id="29" name="Text 26">
            <a:hlinkClick r:id="rId5" tooltip=""/>
          </p:cNvPr>
          <p:cNvSpPr/>
          <p:nvPr/>
        </p:nvSpPr>
        <p:spPr>
          <a:xfrm>
            <a:off x="260604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A0A0A0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x.com/swappilotdex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17720" y="6309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·</a:t>
            </a:r>
            <a:endParaRPr lang="en-US" sz="1000" dirty="0"/>
          </a:p>
        </p:txBody>
      </p:sp>
      <p:sp>
        <p:nvSpPr>
          <p:cNvPr id="31" name="Text 28">
            <a:hlinkClick r:id="rId6" tooltip=""/>
          </p:cNvPr>
          <p:cNvSpPr/>
          <p:nvPr/>
        </p:nvSpPr>
        <p:spPr>
          <a:xfrm>
            <a:off x="4800600" y="6309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A0A0A0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t.me/swapPilot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46520" y="6309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·</a:t>
            </a:r>
            <a:endParaRPr lang="en-US" sz="1000" dirty="0"/>
          </a:p>
        </p:txBody>
      </p:sp>
      <p:sp>
        <p:nvSpPr>
          <p:cNvPr id="33" name="Text 30">
            <a:hlinkClick r:id="rId7" tooltip=""/>
          </p:cNvPr>
          <p:cNvSpPr/>
          <p:nvPr/>
        </p:nvSpPr>
        <p:spPr>
          <a:xfrm>
            <a:off x="6629400" y="6309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A0A0A0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github.com/BacBacta/SwapPilot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2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Swaps still feel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unpredictable.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Users can't reliably estimate what they will actually receive — especially on fee-on-transfer tokens and fast-moving routes.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🔀  Fragmented liquidity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Prices differ per DEX. Manual comparison is slow and error-prone. Users waste time checking multiple platforms.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83464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💸  Hidden costs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Slippage + token transfer taxes reduce net output after execution. What you see is not what you get.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48056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Execution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Routes can fail; users need preflight signals and clear warnings before signing transactions.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3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One flow that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optimizes &amp; explains.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SwapPilot separates "best raw output" from "best executable" and documents every decision transparently.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BEQ (Best Executable Quote)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Optimizes for executability first — then for output. Not just the highest number, but the safest path.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83464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🧾  Decision transparency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Every quote returns detailed reasoning: whyWinner · warnings · ranking rationale · assumptions.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48056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🎚️  Risk modes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SAFE / NORMAL / DEGEN switch the BEQ weights — reasoning stays fully transparent.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4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How a swap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happens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Four steps — mapped to real API endpoints.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Quote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POST /v1/quotes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Fan-out to multiple providers in parallel on BSC (chainId 56).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1887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Rank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16459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Return rankedQuotes (BEQ) + bestRawQuotes + recommended provider.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749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Explain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GET /v1/receipts/:id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whyWinner + warnings + assumptions in one artifact.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3749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Execute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Use /v1/build-tx for ready-to-sign tx or open provider via deepLink.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5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COVERAGE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Providers on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BNB Chain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Top aggregators and DEX routers. BEQ prioritizes executability over the best-looking number.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 10+ Providers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PancakeSwap · 1inch · OKX DEX · KyberSwap · ParaSwap · Odos · OpenOcean · 0x · Uniswap V2 · Uniswap V3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1887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Capabilities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16459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Quotes + ranking · buildTx where supported · deep-links as fallback · health endpoint /v1/providers/status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749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🛡️  Risk signals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Sellability · revert risk · MEV exposure · churn · optional token security (GoPlus / Honeypot.is)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3749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🔐  Non-custodial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Users sign in their wallet. SwapPilot does not hold keys or funds. Your keys, your crypto.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6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PROOF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 working system.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Public app + public API. Every quote run returns detailed decision data for full auditability.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029200" cy="1280160"/>
          </a:xfrm>
          <a:prstGeom prst="roundRect">
            <a:avLst>
              <a:gd name="adj" fmla="val 8571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Decision data includes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rankedQuotes · beqRecommendedProviderId · whyWinner · warnings · ranking.mode · preflight signals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LIVE 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15544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app-swappilot.xyz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1120" y="11887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PUBLIC 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98280" y="15544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swappilot-api.fly.dev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2834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971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SWAGGER UI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/documentation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61120" y="2834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971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OPENAPI SPEC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98280" y="32004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/documentation/json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0" y="448056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QUOTES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48463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/v1/quotes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61120" y="448056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BUILD TX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98280" y="48463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/v1/build-tx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7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Revenue aligned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with usage.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Simple monetization primitives already built into the stack. No projections — just shipped code.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 Fee engine (API)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Endpoints /v1/fees/calculate and /v1/pilot/tier compute fees and holding-based discounts dynamically.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83464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🔥  Fee distribution (Contracts)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FeeCollector contract: 15% buy &amp; burn · 85% treasury distribution. Deployed on BSC.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48056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🤝  Referral incentives (Contracts)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ReferralPool + ReferralRewards contracts support referral-based reward flows for growth.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8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DISTRIBUTION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Token allocation</a:t>
            </a:r>
            <a:endParaRPr lang="en-US" sz="3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828800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383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1B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5720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A0A0"/>
                </a:solidFill>
              </a:rPr>
              <a:t>PILOT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Fixed supply · No inflation · No mint function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118872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1600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B6FF6A"/>
          </a:solidFill>
          <a:ln/>
        </p:spPr>
      </p:sp>
      <p:sp>
        <p:nvSpPr>
          <p:cNvPr id="15" name="Text 12"/>
          <p:cNvSpPr/>
          <p:nvPr/>
        </p:nvSpPr>
        <p:spPr>
          <a:xfrm>
            <a:off x="6473952" y="1554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Public Sale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15544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224028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FCC55"/>
          </a:solidFill>
          <a:ln/>
        </p:spPr>
      </p:sp>
      <p:sp>
        <p:nvSpPr>
          <p:cNvPr id="18" name="Text 15"/>
          <p:cNvSpPr/>
          <p:nvPr/>
        </p:nvSpPr>
        <p:spPr>
          <a:xfrm>
            <a:off x="6473952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Treasury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8160" y="2194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288036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DD3FC"/>
          </a:solidFill>
          <a:ln/>
        </p:spPr>
      </p:sp>
      <p:sp>
        <p:nvSpPr>
          <p:cNvPr id="21" name="Text 18"/>
          <p:cNvSpPr/>
          <p:nvPr/>
        </p:nvSpPr>
        <p:spPr>
          <a:xfrm>
            <a:off x="6473952" y="2834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CEX &amp; Marketing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38160" y="28346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17920" y="35204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5AAFDC"/>
          </a:solidFill>
          <a:ln/>
        </p:spPr>
      </p:sp>
      <p:sp>
        <p:nvSpPr>
          <p:cNvPr id="24" name="Text 21"/>
          <p:cNvSpPr/>
          <p:nvPr/>
        </p:nvSpPr>
        <p:spPr>
          <a:xfrm>
            <a:off x="6473952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Liquidity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38160" y="3474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17920" y="41605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5A5A5A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4114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Team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38160" y="4114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17920" y="48006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4A4A4A"/>
          </a:solidFill>
          <a:ln/>
        </p:spPr>
      </p:sp>
      <p:sp>
        <p:nvSpPr>
          <p:cNvPr id="30" name="Text 27"/>
          <p:cNvSpPr/>
          <p:nvPr/>
        </p:nvSpPr>
        <p:spPr>
          <a:xfrm>
            <a:off x="6473952" y="4754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Advisors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38160" y="4754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5%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544068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A3A3A"/>
          </a:solidFill>
          <a:ln/>
        </p:spPr>
      </p:sp>
      <p:sp>
        <p:nvSpPr>
          <p:cNvPr id="33" name="Text 30"/>
          <p:cNvSpPr/>
          <p:nvPr/>
        </p:nvSpPr>
        <p:spPr>
          <a:xfrm>
            <a:off x="6473952" y="5394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Referral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38160" y="53949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9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TOKENOMICS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Key metrics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Clear, investor-ready figures from the tokenomics documentation.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325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TOTAL SUPPLY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1,000,000,000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325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PUBLIC SALE PRICE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281160" y="1554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$0.0057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FULLY DILUTED VALUATION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37960" y="32004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$5.7M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A0A0"/>
                </a:solidFill>
              </a:rPr>
              <a:t>INITIAL MARKET CAP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81160" y="32004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$966K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4480560"/>
            <a:ext cx="5303520" cy="164592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TGE Circulating Supply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937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169.5M tokens (16.95%)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10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VESTING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Unlocks designed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for stability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TGE unlock percentage by allocation bucket. Gradual release prevents dumps.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📅  Milestones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16.95% at TGE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52.83% at Month 6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78.67% at Month 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Public Sale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162763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627632"/>
            <a:ext cx="754380" cy="164592"/>
          </a:xfrm>
          <a:prstGeom prst="roundRect">
            <a:avLst>
              <a:gd name="adj" fmla="val 50000"/>
            </a:avLst>
          </a:prstGeom>
          <a:solidFill>
            <a:srgbClr val="B6FF6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Liquidity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226771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2267712"/>
            <a:ext cx="1056132" cy="164592"/>
          </a:xfrm>
          <a:prstGeom prst="roundRect">
            <a:avLst>
              <a:gd name="adj" fmla="val 50000"/>
            </a:avLst>
          </a:prstGeom>
          <a:solidFill>
            <a:srgbClr val="B6FF6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CEX &amp; Marketing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290779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2907792"/>
            <a:ext cx="754380" cy="164592"/>
          </a:xfrm>
          <a:prstGeom prst="roundRect">
            <a:avLst>
              <a:gd name="adj" fmla="val 50000"/>
            </a:avLst>
          </a:prstGeom>
          <a:solidFill>
            <a:srgbClr val="B6FF6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Treasury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354787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3547872"/>
            <a:ext cx="150876" cy="164592"/>
          </a:xfrm>
          <a:prstGeom prst="roundRect">
            <a:avLst>
              <a:gd name="adj" fmla="val 54545"/>
            </a:avLst>
          </a:prstGeom>
          <a:solidFill>
            <a:srgbClr val="B6FF6A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18795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4187952"/>
            <a:ext cx="45720" cy="164592"/>
          </a:xfrm>
          <a:prstGeom prst="roundRect">
            <a:avLst>
              <a:gd name="adj" fmla="val 180000"/>
            </a:avLst>
          </a:prstGeom>
          <a:solidFill>
            <a:srgbClr val="B6FF6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754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Advisors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82803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828032"/>
            <a:ext cx="45720" cy="164592"/>
          </a:xfrm>
          <a:prstGeom prst="roundRect">
            <a:avLst>
              <a:gd name="adj" fmla="val 180000"/>
            </a:avLst>
          </a:prstGeom>
          <a:solidFill>
            <a:srgbClr val="B6FF6A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Referral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55280" y="5394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546811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5468112"/>
            <a:ext cx="45720" cy="164592"/>
          </a:xfrm>
          <a:prstGeom prst="roundRect">
            <a:avLst>
              <a:gd name="adj" fmla="val 180000"/>
            </a:avLst>
          </a:prstGeom>
          <a:solidFill>
            <a:srgbClr val="B6FF6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11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ROADMAP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Execution milestones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B6F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6FF6A"/>
                </a:solidFill>
              </a:rPr>
              <a:t>PHASE 1 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Core aggregation engine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BSC mainnet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1inch/Kyber/Para/OKX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Wallet connect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Real-time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103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6FF6A"/>
                </a:solidFill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Multi-chain expansion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Ethereum, Arbitrum, Base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Analytics dashboard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Price alerts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Limit orders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6FF6A"/>
                </a:solidFill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 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Cross-chain swaps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DCA / recurring buys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Portfolio tracking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Mobile app iOS/Android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2103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6FF6A"/>
                </a:solidFill>
              </a:rPr>
              <a:t>PHASE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Q3–Q4 2026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2834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Public API &amp; SDK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Developer widget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Institutional features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0A0A0"/>
                </a:solidFill>
              </a:rPr>
              <a:t>DAO 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12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CALL TO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See it live.
</a:t>
            </a:r>
            <a:pPr algn="ctr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B6FF6A"/>
                </a:solidFill>
              </a:rPr>
              <a:t>Verify everything</a:t>
            </a:r>
            <a:pPr algn="ctr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0A0A0"/>
                </a:solidFill>
              </a:rPr>
              <a:t>Try the app, read the documentation, and review the tokenomics.</a:t>
            </a:r>
            <a:endParaRPr lang="en-US" sz="18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0A0A0"/>
                </a:solidFill>
              </a:rPr>
              <a:t>Everything is public and verifiable.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94560" y="4846320"/>
            <a:ext cx="1828800" cy="502920"/>
          </a:xfrm>
          <a:prstGeom prst="roundRect">
            <a:avLst>
              <a:gd name="adj" fmla="val 54545"/>
            </a:avLst>
          </a:prstGeom>
          <a:solidFill>
            <a:srgbClr val="B6FF6A"/>
          </a:solidFill>
          <a:ln w="12700">
            <a:solidFill>
              <a:srgbClr val="B6FF6A"/>
            </a:solidFill>
            <a:prstDash val="solid"/>
          </a:ln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219456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7080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app 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4846320"/>
            <a:ext cx="1828800" cy="502920"/>
          </a:xfrm>
          <a:prstGeom prst="roundRect">
            <a:avLst>
              <a:gd name="adj" fmla="val 54545"/>
            </a:avLst>
          </a:prstGeom>
          <a:solidFill>
            <a:srgbClr val="0D1117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420624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docs 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846320"/>
            <a:ext cx="1828800" cy="502920"/>
          </a:xfrm>
          <a:prstGeom prst="roundRect">
            <a:avLst>
              <a:gd name="adj" fmla="val 54545"/>
            </a:avLst>
          </a:prstGeom>
          <a:solidFill>
            <a:srgbClr val="0D1117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621792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Twitter 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4846320"/>
            <a:ext cx="1828800" cy="502920"/>
          </a:xfrm>
          <a:prstGeom prst="roundRect">
            <a:avLst>
              <a:gd name="adj" fmla="val 54545"/>
            </a:avLst>
          </a:prstGeom>
          <a:solidFill>
            <a:srgbClr val="0D1117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822960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Telegram →</a:t>
            </a:r>
            <a:endParaRPr lang="en-US" sz="1400" dirty="0"/>
          </a:p>
        </p:txBody>
      </p:sp>
      <p:sp>
        <p:nvSpPr>
          <p:cNvPr id="18" name="Text 16">
            <a:hlinkClick r:id="rId5" tooltip=""/>
          </p:cNvPr>
          <p:cNvSpPr/>
          <p:nvPr/>
        </p:nvSpPr>
        <p:spPr>
          <a:xfrm>
            <a:off x="1005840" y="5943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A0A0A0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app-swappilot.xyz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5943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·</a:t>
            </a:r>
            <a:endParaRPr lang="en-US" sz="1100" dirty="0"/>
          </a:p>
        </p:txBody>
      </p:sp>
      <p:sp>
        <p:nvSpPr>
          <p:cNvPr id="20" name="Text 18">
            <a:hlinkClick r:id="rId6" tooltip=""/>
          </p:cNvPr>
          <p:cNvSpPr/>
          <p:nvPr/>
        </p:nvSpPr>
        <p:spPr>
          <a:xfrm>
            <a:off x="3154680" y="5943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A0A0A0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x.com/swappilotdex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5943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·</a:t>
            </a:r>
            <a:endParaRPr lang="en-US" sz="1100" dirty="0"/>
          </a:p>
        </p:txBody>
      </p:sp>
      <p:sp>
        <p:nvSpPr>
          <p:cNvPr id="22" name="Text 20">
            <a:hlinkClick r:id="rId7" tooltip=""/>
          </p:cNvPr>
          <p:cNvSpPr/>
          <p:nvPr/>
        </p:nvSpPr>
        <p:spPr>
          <a:xfrm>
            <a:off x="5349240" y="5943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A0A0A0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t.me/swapPilot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5943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·</a:t>
            </a:r>
            <a:endParaRPr lang="en-US" sz="1100" dirty="0"/>
          </a:p>
        </p:txBody>
      </p:sp>
      <p:sp>
        <p:nvSpPr>
          <p:cNvPr id="24" name="Text 22">
            <a:hlinkClick r:id="rId8" tooltip=""/>
          </p:cNvPr>
          <p:cNvSpPr/>
          <p:nvPr/>
        </p:nvSpPr>
        <p:spPr>
          <a:xfrm>
            <a:off x="7178040" y="5943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A0A0A0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github.com/BacBacta/SwapPilot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SwapPilot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365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13 /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20040" cy="36576"/>
          </a:xfrm>
          <a:prstGeom prst="rect">
            <a:avLst/>
          </a:prstGeom>
          <a:solidFill>
            <a:srgbClr val="B6FF6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A0A0"/>
                </a:solidFill>
              </a:rPr>
              <a:t>LEGAL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Important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disclosures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0A0A0"/>
                </a:solidFill>
              </a:rPr>
              <a:t>Please read carefully before participating in the Public Sale.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Not financial advice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This document is for informational purposes only. Nothing herein constitutes investment advice.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📉  No guarantees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PILOT token value may fluctuate. Past performance is not indicative of future results.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4297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⚖️  Regulatory uncertainty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4754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Cryptocurrency regulations vary by jurisdiction and are subject to change.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🔧  Technology risks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1645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Smart contracts carry inherent risks including bugs and exploits.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0" y="27432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🔮  Forward-looking statements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0A0"/>
                </a:solidFill>
              </a:rPr>
              <a:t>Roadmap and projections are subject to change.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By participating in the Public Sale, you acknowledge that you have read and understood these disclosures.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SwapPilot Pitch Deck</dc:title>
  <dc:subject>DEX Aggregator on BNB Chain</dc:subject>
  <dc:creator>SwapPilot Team</dc:creator>
  <cp:lastModifiedBy>SwapPilot Team</cp:lastModifiedBy>
  <cp:revision>1</cp:revision>
  <dcterms:created xsi:type="dcterms:W3CDTF">2026-01-11T20:48:48Z</dcterms:created>
  <dcterms:modified xsi:type="dcterms:W3CDTF">2026-01-11T20:48:48Z</dcterms:modified>
</cp:coreProperties>
</file>