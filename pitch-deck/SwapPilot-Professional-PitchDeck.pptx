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9AE66E"/>
              </a:solidFill>
              <a:ln w="25400" cap="flat">
                <a:solidFill>
                  <a:srgbClr val="07080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4CAF50"/>
              </a:solidFill>
              <a:ln w="25400" cap="flat">
                <a:solidFill>
                  <a:srgbClr val="07080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42A5F5"/>
              </a:solidFill>
              <a:ln w="25400" cap="flat">
                <a:solidFill>
                  <a:srgbClr val="07080B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64B5F6"/>
              </a:solidFill>
              <a:ln w="25400" cap="flat">
                <a:solidFill>
                  <a:srgbClr val="07080B"/>
                </a:solidFill>
                <a:prstDash val="solid"/>
                <a:round/>
              </a:ln>
              <a:effectLst/>
            </c:spPr>
          </c:dPt>
          <c:dPt>
            <c:idx val="4"/>
            <c:bubble3D val="0"/>
            <c:spPr>
              <a:solidFill>
                <a:srgbClr val="78909C"/>
              </a:solidFill>
              <a:ln w="25400" cap="flat">
                <a:solidFill>
                  <a:srgbClr val="07080B"/>
                </a:solidFill>
                <a:prstDash val="solid"/>
                <a:round/>
              </a:ln>
              <a:effectLst/>
            </c:spPr>
          </c:dPt>
          <c:dPt>
            <c:idx val="5"/>
            <c:bubble3D val="0"/>
            <c:spPr>
              <a:solidFill>
                <a:srgbClr val="90A4AE"/>
              </a:solidFill>
              <a:ln w="25400" cap="flat">
                <a:solidFill>
                  <a:srgbClr val="07080B"/>
                </a:solidFill>
                <a:prstDash val="solid"/>
                <a:round/>
              </a:ln>
              <a:effectLst/>
            </c:spPr>
          </c:dPt>
          <c:dPt>
            <c:idx val="6"/>
            <c:bubble3D val="0"/>
            <c:spPr>
              <a:solidFill>
                <a:srgbClr val="B0BEC5"/>
              </a:solidFill>
              <a:ln w="25400" cap="flat">
                <a:solidFill>
                  <a:srgbClr val="07080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Sheet1!$A$2:$A$8</c:f>
              <c:strCache>
                <c:ptCount val="7"/>
                <c:pt idx="0">
                  <c:v>Public Sale</c:v>
                </c:pt>
                <c:pt idx="1">
                  <c:v>Treasury</c:v>
                </c:pt>
                <c:pt idx="2">
                  <c:v>CEX &amp; Marketing</c:v>
                </c:pt>
                <c:pt idx="3">
                  <c:v>Liquidity</c:v>
                </c:pt>
                <c:pt idx="4">
                  <c:v>Team</c:v>
                </c:pt>
                <c:pt idx="5">
                  <c:v>Advisors</c:v>
                </c:pt>
                <c:pt idx="6">
                  <c:v>Referral</c:v>
                </c:pt>
              </c:strCache>
            </c:strRef>
          </c:cat>
          <c:val>
            <c:numRef>
              <c:f>Sheet1!$B$2:$B$8</c:f>
              <c:numCache>
                <c:ptCount val="7"/>
                <c:pt idx="0">
                  <c:v>35</c:v>
                </c:pt>
                <c:pt idx="1">
                  <c:v>20</c:v>
                </c:pt>
                <c:pt idx="2">
                  <c:v>12</c:v>
                </c:pt>
                <c:pt idx="3">
                  <c:v>12</c:v>
                </c:pt>
                <c:pt idx="4">
                  <c:v>11</c:v>
                </c:pt>
                <c:pt idx="5">
                  <c:v>5</c:v>
                </c:pt>
                <c:pt idx="6">
                  <c:v>5</c:v>
                </c:pt>
              </c:numCache>
            </c:numRef>
          </c:val>
        </c:ser>
        <c:firstSliceAng val="0"/>
        <c:holeSize val="60"/>
      </c:doughnutChart>
      <c:spPr>
        <a:solidFill>
          <a:srgbClr val="07080B"/>
        </a:solidFill>
        <a:ln>
          <a:noFill/>
        </a:ln>
        <a:effectLst/>
      </c:spPr>
    </c:plotArea>
    <c:plotVisOnly val="1"/>
    <c:dispBlanksAs val="span"/>
  </c:chart>
  <c:spPr>
    <a:solidFill>
      <a:srgbClr val="07080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app-swappilot.xyz" TargetMode="External"/><Relationship Id="rId2" Type="http://schemas.openxmlformats.org/officeDocument/2006/relationships/hyperlink" Target="https://swappilot.gitbook.io/untitled" TargetMode="External"/><Relationship Id="rId4" Type="http://schemas.openxmlformats.org/officeDocument/2006/relationships/hyperlink" Target="https://app-swappilot.xyz" TargetMode="External"/><Relationship Id="rId5" Type="http://schemas.openxmlformats.org/officeDocument/2006/relationships/hyperlink" Target="https://x.com/swappilotdex" TargetMode="External"/><Relationship Id="rId6" Type="http://schemas.openxmlformats.org/officeDocument/2006/relationships/hyperlink" Target="https://t.me/swapPilot" TargetMode="External"/><Relationship Id="rId7" Type="http://schemas.openxmlformats.org/officeDocument/2006/relationships/hyperlink" Target="https://github.com/BacBacta/SwapPilot" TargetMode="External"/><Relationship Id="rId3" Type="http://schemas.openxmlformats.org/officeDocument/2006/relationships/image" Target="../media/image-1-1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app-swappilot.xyz" TargetMode="External"/><Relationship Id="rId2" Type="http://schemas.openxmlformats.org/officeDocument/2006/relationships/hyperlink" Target="https://swappilot.gitbook.io/untitled" TargetMode="External"/><Relationship Id="rId3" Type="http://schemas.openxmlformats.org/officeDocument/2006/relationships/hyperlink" Target="https://x.com/swappilotdex" TargetMode="External"/><Relationship Id="rId4" Type="http://schemas.openxmlformats.org/officeDocument/2006/relationships/hyperlink" Target="https://t.me/swapPilot" TargetMode="External"/><Relationship Id="rId5" Type="http://schemas.openxmlformats.org/officeDocument/2006/relationships/hyperlink" Target="https://app-swappilot.xyz" TargetMode="External"/><Relationship Id="rId6" Type="http://schemas.openxmlformats.org/officeDocument/2006/relationships/hyperlink" Target="https://x.com/swappilotdex" TargetMode="External"/><Relationship Id="rId7" Type="http://schemas.openxmlformats.org/officeDocument/2006/relationships/hyperlink" Target="https://t.me/swapPilot" TargetMode="External"/><Relationship Id="rId8" Type="http://schemas.openxmlformats.org/officeDocument/2006/relationships/hyperlink" Target="https://github.com/BacBacta/SwapPilot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1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1280160" cy="320040"/>
          </a:xfrm>
          <a:prstGeom prst="roundRect">
            <a:avLst>
              <a:gd name="adj" fmla="val 51429"/>
            </a:avLst>
          </a:prstGeom>
          <a:solidFill>
            <a:srgbClr val="0D1117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170432"/>
            <a:ext cx="109728" cy="109728"/>
          </a:xfrm>
          <a:prstGeom prst="ellipse">
            <a:avLst/>
          </a:prstGeom>
          <a:solidFill>
            <a:srgbClr val="B6FF6A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11556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BNB Chain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828800" y="1097280"/>
            <a:ext cx="1280160" cy="320040"/>
          </a:xfrm>
          <a:prstGeom prst="roundRect">
            <a:avLst>
              <a:gd name="adj" fmla="val 51429"/>
            </a:avLst>
          </a:prstGeom>
          <a:solidFill>
            <a:srgbClr val="0D1117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20240" y="1170432"/>
            <a:ext cx="109728" cy="109728"/>
          </a:xfrm>
          <a:prstGeom prst="ellipse">
            <a:avLst/>
          </a:prstGeom>
          <a:solidFill>
            <a:srgbClr val="B6FF6A"/>
          </a:solidFill>
          <a:ln/>
        </p:spPr>
      </p:sp>
      <p:sp>
        <p:nvSpPr>
          <p:cNvPr id="11" name="Text 9"/>
          <p:cNvSpPr/>
          <p:nvPr/>
        </p:nvSpPr>
        <p:spPr>
          <a:xfrm>
            <a:off x="2084832" y="111556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BEQ Ranking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0" y="1097280"/>
            <a:ext cx="1280160" cy="320040"/>
          </a:xfrm>
          <a:prstGeom prst="roundRect">
            <a:avLst>
              <a:gd name="adj" fmla="val 51429"/>
            </a:avLst>
          </a:prstGeom>
          <a:solidFill>
            <a:srgbClr val="0D1117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91840" y="1170432"/>
            <a:ext cx="109728" cy="109728"/>
          </a:xfrm>
          <a:prstGeom prst="ellipse">
            <a:avLst/>
          </a:prstGeom>
          <a:solidFill>
            <a:srgbClr val="B6FF6A"/>
          </a:solidFill>
          <a:ln/>
        </p:spPr>
      </p:sp>
      <p:sp>
        <p:nvSpPr>
          <p:cNvPr id="14" name="Text 12"/>
          <p:cNvSpPr/>
          <p:nvPr/>
        </p:nvSpPr>
        <p:spPr>
          <a:xfrm>
            <a:off x="3456432" y="111556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Non-custodial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1645920"/>
            <a:ext cx="5486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</a:rPr>
              <a:t>Safer swaps on
</a:t>
            </a:r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B6FF6A"/>
                </a:solidFill>
              </a:rPr>
              <a:t>BNB Chain</a:t>
            </a:r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</a:rPr>
              <a:t>.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457200" y="320040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SwapPilot is a DEX aggregator that ranks quotes into BEQ (Best Executable Quote) and optimizes for execution safety before you sign.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57200" y="4206240"/>
            <a:ext cx="1645920" cy="457200"/>
          </a:xfrm>
          <a:prstGeom prst="roundRect">
            <a:avLst>
              <a:gd name="adj" fmla="val 60000"/>
            </a:avLst>
          </a:prstGeom>
          <a:solidFill>
            <a:srgbClr val="B6FF6A"/>
          </a:solidFill>
          <a:ln w="12700">
            <a:solidFill>
              <a:srgbClr val="B6FF6A"/>
            </a:solidFill>
            <a:prstDash val="solid"/>
          </a:ln>
        </p:spPr>
      </p:sp>
      <p:sp>
        <p:nvSpPr>
          <p:cNvPr id="18" name="Text 16">
            <a:hlinkClick r:id="rId1" tooltip=""/>
          </p:cNvPr>
          <p:cNvSpPr/>
          <p:nvPr/>
        </p:nvSpPr>
        <p:spPr>
          <a:xfrm>
            <a:off x="457200" y="42062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07080B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app 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286000" y="4206240"/>
            <a:ext cx="1645920" cy="457200"/>
          </a:xfrm>
          <a:prstGeom prst="roundRect">
            <a:avLst>
              <a:gd name="adj" fmla="val 60000"/>
            </a:avLst>
          </a:prstGeom>
          <a:solidFill>
            <a:srgbClr val="0D1117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0" name="Text 18">
            <a:hlinkClick r:id="rId2" tooltip=""/>
          </p:cNvPr>
          <p:cNvSpPr/>
          <p:nvPr/>
        </p:nvSpPr>
        <p:spPr>
          <a:xfrm>
            <a:off x="2286000" y="42062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 docs 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0" y="1097280"/>
            <a:ext cx="5303520" cy="5029200"/>
          </a:xfrm>
          <a:prstGeom prst="roundRect">
            <a:avLst>
              <a:gd name="adj" fmla="val 3636"/>
            </a:avLst>
          </a:prstGeom>
          <a:solidFill>
            <a:srgbClr val="0D1117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0" y="1280160"/>
            <a:ext cx="109728" cy="109728"/>
          </a:xfrm>
          <a:prstGeom prst="ellipse">
            <a:avLst/>
          </a:prstGeom>
          <a:solidFill>
            <a:srgbClr val="4A4A4A"/>
          </a:solidFill>
          <a:ln/>
        </p:spPr>
      </p:sp>
      <p:sp>
        <p:nvSpPr>
          <p:cNvPr id="23" name="Shape 21"/>
          <p:cNvSpPr/>
          <p:nvPr/>
        </p:nvSpPr>
        <p:spPr>
          <a:xfrm>
            <a:off x="6766560" y="1280160"/>
            <a:ext cx="109728" cy="109728"/>
          </a:xfrm>
          <a:prstGeom prst="ellipse">
            <a:avLst/>
          </a:prstGeom>
          <a:solidFill>
            <a:srgbClr val="4A4A4A"/>
          </a:solidFill>
          <a:ln/>
        </p:spPr>
      </p:sp>
      <p:sp>
        <p:nvSpPr>
          <p:cNvPr id="24" name="Shape 22"/>
          <p:cNvSpPr/>
          <p:nvPr/>
        </p:nvSpPr>
        <p:spPr>
          <a:xfrm>
            <a:off x="6949440" y="1280160"/>
            <a:ext cx="109728" cy="109728"/>
          </a:xfrm>
          <a:prstGeom prst="ellipse">
            <a:avLst/>
          </a:prstGeom>
          <a:solidFill>
            <a:srgbClr val="4A4A4A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0" y="12344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app-swappilot.xyz</a:t>
            </a:r>
            <a:endParaRPr lang="en-US" sz="1000" dirty="0"/>
          </a:p>
        </p:txBody>
      </p:sp>
      <p:pic>
        <p:nvPicPr>
          <p:cNvPr id="26" name="Image 0" descr="./assets/hero-swap-wi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554480"/>
            <a:ext cx="5029200" cy="4480560"/>
          </a:xfrm>
          <a:prstGeom prst="rect">
            <a:avLst/>
          </a:prstGeom>
        </p:spPr>
      </p:pic>
      <p:sp>
        <p:nvSpPr>
          <p:cNvPr id="27" name="Text 24">
            <a:hlinkClick r:id="rId4" tooltip=""/>
          </p:cNvPr>
          <p:cNvSpPr/>
          <p:nvPr/>
        </p:nvSpPr>
        <p:spPr>
          <a:xfrm>
            <a:off x="457200" y="63093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A0A0A0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app-swappilot.xyz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2423160" y="630936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·</a:t>
            </a:r>
            <a:endParaRPr lang="en-US" sz="1000" dirty="0"/>
          </a:p>
        </p:txBody>
      </p:sp>
      <p:sp>
        <p:nvSpPr>
          <p:cNvPr id="29" name="Text 26">
            <a:hlinkClick r:id="rId5" tooltip=""/>
          </p:cNvPr>
          <p:cNvSpPr/>
          <p:nvPr/>
        </p:nvSpPr>
        <p:spPr>
          <a:xfrm>
            <a:off x="2606040" y="63093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A0A0A0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x.com/swappilotdex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4617720" y="630936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·</a:t>
            </a:r>
            <a:endParaRPr lang="en-US" sz="1000" dirty="0"/>
          </a:p>
        </p:txBody>
      </p:sp>
      <p:sp>
        <p:nvSpPr>
          <p:cNvPr id="31" name="Text 28">
            <a:hlinkClick r:id="rId6" tooltip=""/>
          </p:cNvPr>
          <p:cNvSpPr/>
          <p:nvPr/>
        </p:nvSpPr>
        <p:spPr>
          <a:xfrm>
            <a:off x="4800600" y="63093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A0A0A0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t.me/swapPilot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6446520" y="630936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·</a:t>
            </a:r>
            <a:endParaRPr lang="en-US" sz="1000" dirty="0"/>
          </a:p>
        </p:txBody>
      </p:sp>
      <p:sp>
        <p:nvSpPr>
          <p:cNvPr id="33" name="Text 30">
            <a:hlinkClick r:id="rId7" tooltip=""/>
          </p:cNvPr>
          <p:cNvSpPr/>
          <p:nvPr/>
        </p:nvSpPr>
        <p:spPr>
          <a:xfrm>
            <a:off x="6629400" y="63093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A0A0A0"/>
                </a:solidFill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github.com/BacBacta/SwapPilot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2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PROBLEM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Swaps still feel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unpredictable.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Users can't reliably estimate what they will actually receive — especially on fee-on-transfer tokens and fast-moving routes.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🔀  Fragmented liquidity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83680" y="169164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Prices differ per DEX. Manual comparison is slow and error-prone. Users waste time checking multiple platforms.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0" y="283464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29718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💸  Hidden costs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83680" y="333756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Slippage + token transfer taxes reduce net output after execution. What you see is not what you get.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0" y="448056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46177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⚠️  Execution risk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83680" y="498348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Routes can fail; users need preflight signals and clear warnings before signing transactions.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3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SOLUTION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6459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One flow that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optimizes &amp; explains.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31089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SwapPilot separates "best raw output" from "best executable" and documents every decision transparently.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🏆  BEQ (Best Executable Quote)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83680" y="169164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Optimizes for executability first — then for output. Not just the highest number, but the safest path.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0" y="283464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29718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🧾  Decision transparency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83680" y="333756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Every quote returns detailed reasoning: whyWinner · warnings · ranking rationale · assumptions.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0" y="448056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46177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🎚️  Risk modes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83680" y="498348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SAFE / NORMAL / DEGEN switch the BEQ weights — reasoning stays fully transparent.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4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PRODUCT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How a swap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happens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Four steps — mapped to real API endpoints.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1. Quote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83680" y="1691640"/>
            <a:ext cx="219456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POST /v1/quotes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Fan-out to multiple providers in parallel on BSC (chainId 56).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144000" y="118872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0" y="1325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2. Rank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326880" y="1691640"/>
            <a:ext cx="219456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Return rankedQuotes (BEQ) + bestRawQuotes + recommended provider.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0" y="374904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38862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3. Explain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83680" y="4251960"/>
            <a:ext cx="219456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GET /v1/receipts/:id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whyWinner + warnings + assumptions in one artifact.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144000" y="374904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0" y="38862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4. Execute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326880" y="4251960"/>
            <a:ext cx="219456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Use /v1/build-tx for ready-to-sign tx or open provider via deepLink.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5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COVERAGE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Providers on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BNB Chain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Top aggregators and DEX routers. BEQ prioritizes executability over the best-looking number.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🔗  10+ Providers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83680" y="1691640"/>
            <a:ext cx="219456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PancakeSwap · 1inch · OKX DEX · KyberSwap · ParaSwap · Odos · OpenOcean · 0x · Uniswap V2 · Uniswap V3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144000" y="118872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0" y="1325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⚙️  Capabilities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326880" y="1691640"/>
            <a:ext cx="219456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Quotes + ranking · buildTx where supported · deep-links as fallback · health endpoint /v1/providers/status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0" y="374904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38862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🛡️  Risk signals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83680" y="4251960"/>
            <a:ext cx="219456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Sellability · revert risk · MEV exposure · churn · optional token security (GoPlus / Honeypot.is)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144000" y="374904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0" y="38862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🔐  Non-custodial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326880" y="4251960"/>
            <a:ext cx="219456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Users sign in their wallet. SwapPilot does not hold keys or funds. Your keys, your crypto.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6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PROOF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A working system.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Public app + public API. Every quote run returns detailed decision data for full auditability.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3291840"/>
            <a:ext cx="5029200" cy="1280160"/>
          </a:xfrm>
          <a:prstGeom prst="roundRect">
            <a:avLst>
              <a:gd name="adj" fmla="val 8571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42900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📋  Decision data includes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794760"/>
            <a:ext cx="46634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rankedQuotes · beqRecommendedProviderId · whyWinner · warnings · ranking.mode · preflight signals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943600" y="1188720"/>
            <a:ext cx="283464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80760" y="132588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LIVE APP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080760" y="1554480"/>
            <a:ext cx="25603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app-swappilot.xyz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961120" y="1188720"/>
            <a:ext cx="283464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98280" y="132588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PUBLIC API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098280" y="1554480"/>
            <a:ext cx="25603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swappilot-api.fly.dev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943600" y="2834640"/>
            <a:ext cx="283464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80760" y="297180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SWAGGER UI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080760" y="3200400"/>
            <a:ext cx="25603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/documentation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961120" y="2834640"/>
            <a:ext cx="283464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098280" y="297180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OPENAPI SPEC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098280" y="3200400"/>
            <a:ext cx="25603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/documentation/json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5943600" y="4480560"/>
            <a:ext cx="283464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080760" y="46177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QUOTES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080760" y="4846320"/>
            <a:ext cx="25603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/v1/quotes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8961120" y="4480560"/>
            <a:ext cx="283464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098280" y="46177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BUILD TX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098280" y="4846320"/>
            <a:ext cx="25603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/v1/build-tx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7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BUSINESS MODEL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Revenue aligned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with usage.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Simple monetization primitives already built into the stack. No projections — just shipped code.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💰  Fee engine (API)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83680" y="169164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Endpoints /v1/fees/calculate and /v1/pilot/tier compute fees and holding-based discounts dynamically.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0" y="283464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29718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🔥  Fee distribution (Contracts)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83680" y="333756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FeeCollector contract: 15% buy &amp; burn · 85% treasury distribution. Deployed on BSC.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0" y="448056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46177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🤝  Referral incentives (Contracts)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83680" y="498348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ReferralPool + ReferralRewards contracts support referral-based reward flows for growth.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8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DISTRIBUTION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6459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Token allocation</a:t>
            </a:r>
            <a:endParaRPr lang="en-US" sz="36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57200" y="2194560"/>
          <a:ext cx="384048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457200" y="365760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1B</a:t>
            </a:r>
            <a:endParaRPr lang="en-US" sz="3600" dirty="0"/>
          </a:p>
        </p:txBody>
      </p:sp>
      <p:sp>
        <p:nvSpPr>
          <p:cNvPr id="11" name="Text 8"/>
          <p:cNvSpPr/>
          <p:nvPr/>
        </p:nvSpPr>
        <p:spPr>
          <a:xfrm>
            <a:off x="457200" y="41605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0A0A0"/>
                </a:solidFill>
              </a:rPr>
              <a:t>PILOT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274320" y="612648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Fixed supply · No inflation · No mint function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303520" y="1463040"/>
            <a:ext cx="6400800" cy="4754880"/>
          </a:xfrm>
          <a:prstGeom prst="roundRect">
            <a:avLst>
              <a:gd name="adj" fmla="val 2885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577840" y="1901952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9AE66E"/>
          </a:solidFill>
          <a:ln/>
        </p:spPr>
      </p:sp>
      <p:sp>
        <p:nvSpPr>
          <p:cNvPr id="15" name="Text 12"/>
          <p:cNvSpPr/>
          <p:nvPr/>
        </p:nvSpPr>
        <p:spPr>
          <a:xfrm>
            <a:off x="5943600" y="18288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Public Sale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9601200" y="18288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35%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577840" y="2496312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4CAF50"/>
          </a:solidFill>
          <a:ln/>
        </p:spPr>
      </p:sp>
      <p:sp>
        <p:nvSpPr>
          <p:cNvPr id="18" name="Text 15"/>
          <p:cNvSpPr/>
          <p:nvPr/>
        </p:nvSpPr>
        <p:spPr>
          <a:xfrm>
            <a:off x="5943600" y="24231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Treasury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9601200" y="24231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20%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577840" y="3090672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42A5F5"/>
          </a:solidFill>
          <a:ln/>
        </p:spPr>
      </p:sp>
      <p:sp>
        <p:nvSpPr>
          <p:cNvPr id="21" name="Text 18"/>
          <p:cNvSpPr/>
          <p:nvPr/>
        </p:nvSpPr>
        <p:spPr>
          <a:xfrm>
            <a:off x="5943600" y="30175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CEX &amp; Marketing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9601200" y="30175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12%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577840" y="3685032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64B5F6"/>
          </a:solidFill>
          <a:ln/>
        </p:spPr>
      </p:sp>
      <p:sp>
        <p:nvSpPr>
          <p:cNvPr id="24" name="Text 21"/>
          <p:cNvSpPr/>
          <p:nvPr/>
        </p:nvSpPr>
        <p:spPr>
          <a:xfrm>
            <a:off x="5943600" y="36118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Liquidity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9601200" y="36118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12%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5577840" y="4279392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78909C"/>
          </a:solidFill>
          <a:ln/>
        </p:spPr>
      </p:sp>
      <p:sp>
        <p:nvSpPr>
          <p:cNvPr id="27" name="Text 24"/>
          <p:cNvSpPr/>
          <p:nvPr/>
        </p:nvSpPr>
        <p:spPr>
          <a:xfrm>
            <a:off x="5943600" y="42062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Team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9601200" y="42062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11%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5577840" y="4873752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90A4AE"/>
          </a:solidFill>
          <a:ln/>
        </p:spPr>
      </p:sp>
      <p:sp>
        <p:nvSpPr>
          <p:cNvPr id="30" name="Text 27"/>
          <p:cNvSpPr/>
          <p:nvPr/>
        </p:nvSpPr>
        <p:spPr>
          <a:xfrm>
            <a:off x="5943600" y="48006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Advisors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9601200" y="48006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5%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5577840" y="5468112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B0BEC5"/>
          </a:solidFill>
          <a:ln/>
        </p:spPr>
      </p:sp>
      <p:sp>
        <p:nvSpPr>
          <p:cNvPr id="33" name="Text 30"/>
          <p:cNvSpPr/>
          <p:nvPr/>
        </p:nvSpPr>
        <p:spPr>
          <a:xfrm>
            <a:off x="5943600" y="53949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Referral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9601200" y="53949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5%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9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TOKENOMICS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Key metrics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Clear, investor-ready figures from the tokenomics documentation.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132588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TOTAL SUPPLY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537960" y="1554480"/>
            <a:ext cx="22860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1,000,000,000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144000" y="118872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81160" y="132588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PUBLIC SALE PRICE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281160" y="1554480"/>
            <a:ext cx="22860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$0.0057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400800" y="283464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37960" y="29718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FULLY DILUTED VALUATION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537960" y="3200400"/>
            <a:ext cx="22860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$5.7M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144000" y="283464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81160" y="29718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INITIAL MARKET CAP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281160" y="3200400"/>
            <a:ext cx="22860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$966K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400800" y="4480560"/>
            <a:ext cx="5303520" cy="1645920"/>
          </a:xfrm>
          <a:prstGeom prst="roundRect">
            <a:avLst>
              <a:gd name="adj" fmla="val 6667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0" y="46177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TGE Circulating Supply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83680" y="493776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169.5M tokens (16.95%)</a:t>
            </a:r>
            <a:endParaRPr lang="en-US"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10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VESTING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Unlocks designed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for stability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TGE unlock percentage by allocation bucket. Gradual release prevents dumps.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3474720"/>
            <a:ext cx="5029200" cy="1645920"/>
          </a:xfrm>
          <a:prstGeom prst="roundRect">
            <a:avLst>
              <a:gd name="adj" fmla="val 6667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61188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📅  Milestones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977640"/>
            <a:ext cx="46634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16.95% at TGE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52.83% at Month 6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78.67% at Month 12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943600" y="1188720"/>
            <a:ext cx="5760720" cy="5029200"/>
          </a:xfrm>
          <a:prstGeom prst="roundRect">
            <a:avLst>
              <a:gd name="adj" fmla="val 2727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0" y="1554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Public Sale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955280" y="1554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25%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503920" y="162763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17" name="Shape 15"/>
          <p:cNvSpPr/>
          <p:nvPr/>
        </p:nvSpPr>
        <p:spPr>
          <a:xfrm>
            <a:off x="8503920" y="1627632"/>
            <a:ext cx="754380" cy="164592"/>
          </a:xfrm>
          <a:prstGeom prst="roundRect">
            <a:avLst>
              <a:gd name="adj" fmla="val 50000"/>
            </a:avLst>
          </a:prstGeom>
          <a:solidFill>
            <a:srgbClr val="B6FF6A"/>
          </a:solidFill>
          <a:ln/>
        </p:spPr>
      </p:sp>
      <p:sp>
        <p:nvSpPr>
          <p:cNvPr id="18" name="Text 16"/>
          <p:cNvSpPr/>
          <p:nvPr/>
        </p:nvSpPr>
        <p:spPr>
          <a:xfrm>
            <a:off x="6217920" y="21945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Liquidity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955280" y="21945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35%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503920" y="226771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21" name="Shape 19"/>
          <p:cNvSpPr/>
          <p:nvPr/>
        </p:nvSpPr>
        <p:spPr>
          <a:xfrm>
            <a:off x="8503920" y="2267712"/>
            <a:ext cx="1056132" cy="164592"/>
          </a:xfrm>
          <a:prstGeom prst="roundRect">
            <a:avLst>
              <a:gd name="adj" fmla="val 50000"/>
            </a:avLst>
          </a:prstGeom>
          <a:solidFill>
            <a:srgbClr val="B6FF6A"/>
          </a:solidFill>
          <a:ln/>
        </p:spPr>
      </p:sp>
      <p:sp>
        <p:nvSpPr>
          <p:cNvPr id="22" name="Text 20"/>
          <p:cNvSpPr/>
          <p:nvPr/>
        </p:nvSpPr>
        <p:spPr>
          <a:xfrm>
            <a:off x="6217920" y="283464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CEX &amp; Marketing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955280" y="28346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25%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503920" y="290779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25" name="Shape 23"/>
          <p:cNvSpPr/>
          <p:nvPr/>
        </p:nvSpPr>
        <p:spPr>
          <a:xfrm>
            <a:off x="8503920" y="2907792"/>
            <a:ext cx="754380" cy="164592"/>
          </a:xfrm>
          <a:prstGeom prst="roundRect">
            <a:avLst>
              <a:gd name="adj" fmla="val 50000"/>
            </a:avLst>
          </a:prstGeom>
          <a:solidFill>
            <a:srgbClr val="B6FF6A"/>
          </a:solidFill>
          <a:ln/>
        </p:spPr>
      </p:sp>
      <p:sp>
        <p:nvSpPr>
          <p:cNvPr id="26" name="Text 24"/>
          <p:cNvSpPr/>
          <p:nvPr/>
        </p:nvSpPr>
        <p:spPr>
          <a:xfrm>
            <a:off x="6217920" y="34747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Treasury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955280" y="34747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5%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503920" y="354787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29" name="Shape 27"/>
          <p:cNvSpPr/>
          <p:nvPr/>
        </p:nvSpPr>
        <p:spPr>
          <a:xfrm>
            <a:off x="8503920" y="3547872"/>
            <a:ext cx="150876" cy="164592"/>
          </a:xfrm>
          <a:prstGeom prst="roundRect">
            <a:avLst>
              <a:gd name="adj" fmla="val 54545"/>
            </a:avLst>
          </a:prstGeom>
          <a:solidFill>
            <a:srgbClr val="B6FF6A"/>
          </a:solidFill>
          <a:ln/>
        </p:spPr>
      </p:sp>
      <p:sp>
        <p:nvSpPr>
          <p:cNvPr id="30" name="Text 28"/>
          <p:cNvSpPr/>
          <p:nvPr/>
        </p:nvSpPr>
        <p:spPr>
          <a:xfrm>
            <a:off x="6217920" y="4114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Team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955280" y="4114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0%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503920" y="418795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33" name="Shape 31"/>
          <p:cNvSpPr/>
          <p:nvPr/>
        </p:nvSpPr>
        <p:spPr>
          <a:xfrm>
            <a:off x="8503920" y="4187952"/>
            <a:ext cx="45720" cy="164592"/>
          </a:xfrm>
          <a:prstGeom prst="roundRect">
            <a:avLst>
              <a:gd name="adj" fmla="val 180000"/>
            </a:avLst>
          </a:prstGeom>
          <a:solidFill>
            <a:srgbClr val="B6FF6A"/>
          </a:solidFill>
          <a:ln/>
        </p:spPr>
      </p:sp>
      <p:sp>
        <p:nvSpPr>
          <p:cNvPr id="34" name="Text 32"/>
          <p:cNvSpPr/>
          <p:nvPr/>
        </p:nvSpPr>
        <p:spPr>
          <a:xfrm>
            <a:off x="6217920" y="47548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Advisors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9552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0%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503920" y="482803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37" name="Shape 35"/>
          <p:cNvSpPr/>
          <p:nvPr/>
        </p:nvSpPr>
        <p:spPr>
          <a:xfrm>
            <a:off x="8503920" y="4828032"/>
            <a:ext cx="45720" cy="164592"/>
          </a:xfrm>
          <a:prstGeom prst="roundRect">
            <a:avLst>
              <a:gd name="adj" fmla="val 180000"/>
            </a:avLst>
          </a:prstGeom>
          <a:solidFill>
            <a:srgbClr val="B6FF6A"/>
          </a:solidFill>
          <a:ln/>
        </p:spPr>
      </p:sp>
      <p:sp>
        <p:nvSpPr>
          <p:cNvPr id="38" name="Text 36"/>
          <p:cNvSpPr/>
          <p:nvPr/>
        </p:nvSpPr>
        <p:spPr>
          <a:xfrm>
            <a:off x="6217920" y="53949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Referral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7955280" y="5394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0%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503920" y="546811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41" name="Shape 39"/>
          <p:cNvSpPr/>
          <p:nvPr/>
        </p:nvSpPr>
        <p:spPr>
          <a:xfrm>
            <a:off x="8503920" y="5468112"/>
            <a:ext cx="45720" cy="164592"/>
          </a:xfrm>
          <a:prstGeom prst="roundRect">
            <a:avLst>
              <a:gd name="adj" fmla="val 180000"/>
            </a:avLst>
          </a:prstGeom>
          <a:solidFill>
            <a:srgbClr val="B6FF6A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11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ROADMAP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371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Execution milestones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457200" y="2103120"/>
            <a:ext cx="2743200" cy="3840480"/>
          </a:xfrm>
          <a:prstGeom prst="roundRect">
            <a:avLst>
              <a:gd name="adj" fmla="val 4000"/>
            </a:avLst>
          </a:prstGeom>
          <a:solidFill>
            <a:srgbClr val="0D1117"/>
          </a:solidFill>
          <a:ln w="19050">
            <a:solidFill>
              <a:srgbClr val="B6FF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2402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6FF6A"/>
                </a:solidFill>
              </a:rPr>
              <a:t>PHASE 1 ✓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Foundation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283464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Core aggregation engine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BSC mainnet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1inch/Kyber/Para/OKX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Wallet connect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Real-time monitoring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2103120"/>
            <a:ext cx="2743200" cy="3840480"/>
          </a:xfrm>
          <a:prstGeom prst="roundRect">
            <a:avLst>
              <a:gd name="adj" fmla="val 4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74720" y="22402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6FF6A"/>
                </a:solidFill>
              </a:rPr>
              <a:t>PHASE 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7472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Q1 2026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474720" y="283464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Multi-chain expansion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Ethereum, Arbitrum, Base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Analytics dashboard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Price alerts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Limit orders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2103120"/>
            <a:ext cx="2743200" cy="3840480"/>
          </a:xfrm>
          <a:prstGeom prst="roundRect">
            <a:avLst>
              <a:gd name="adj" fmla="val 4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22402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6FF6A"/>
                </a:solidFill>
              </a:rPr>
              <a:t>PHASE 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0936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Q2 2026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09360" y="283464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Cross-chain swaps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DCA / recurring buys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Portfolio tracking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Mobile app iOS/Android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961120" y="2103120"/>
            <a:ext cx="2743200" cy="3840480"/>
          </a:xfrm>
          <a:prstGeom prst="roundRect">
            <a:avLst>
              <a:gd name="adj" fmla="val 4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0" y="22402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6FF6A"/>
                </a:solidFill>
              </a:rPr>
              <a:t>PHASE 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14400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Q3–Q4 2026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4000" y="283464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Public API &amp; SDK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Developer widget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Institutional features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DAO governance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12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0848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011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CALL TO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37744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5600"/>
              </a:lnSpc>
              <a:buNone/>
            </a:pPr>
            <a:r>
              <a:rPr lang="en-US" sz="4800" b="1" dirty="0">
                <a:solidFill>
                  <a:srgbClr val="FFFFFF"/>
                </a:solidFill>
              </a:rPr>
              <a:t>See it live.
</a:t>
            </a:r>
            <a:pPr algn="ctr" indent="0" marL="0">
              <a:lnSpc>
                <a:spcPts val="5600"/>
              </a:lnSpc>
              <a:buNone/>
            </a:pPr>
            <a:r>
              <a:rPr lang="en-US" sz="4800" b="1" dirty="0">
                <a:solidFill>
                  <a:srgbClr val="B6FF6A"/>
                </a:solidFill>
              </a:rPr>
              <a:t>Verify everything</a:t>
            </a:r>
            <a:pPr algn="ctr" indent="0" marL="0">
              <a:lnSpc>
                <a:spcPts val="5600"/>
              </a:lnSpc>
              <a:buNone/>
            </a:pPr>
            <a:r>
              <a:rPr lang="en-US" sz="4800" b="1" dirty="0">
                <a:solidFill>
                  <a:srgbClr val="FFFFFF"/>
                </a:solidFill>
              </a:rPr>
              <a:t>.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828800" y="38404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A0A0A0"/>
                </a:solidFill>
              </a:rPr>
              <a:t>Try the app, read the documentation, and review the tokenomics.</a:t>
            </a:r>
            <a:endParaRPr lang="en-US" sz="1800" dirty="0"/>
          </a:p>
          <a:p>
            <a:pPr algn="ctr"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A0A0A0"/>
                </a:solidFill>
              </a:rPr>
              <a:t>Everything is public and verifiable.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194560" y="4846320"/>
            <a:ext cx="1828800" cy="502920"/>
          </a:xfrm>
          <a:prstGeom prst="roundRect">
            <a:avLst>
              <a:gd name="adj" fmla="val 54545"/>
            </a:avLst>
          </a:prstGeom>
          <a:solidFill>
            <a:srgbClr val="B6FF6A"/>
          </a:solidFill>
          <a:ln w="12700">
            <a:solidFill>
              <a:srgbClr val="B6FF6A"/>
            </a:solidFill>
            <a:prstDash val="solid"/>
          </a:ln>
        </p:spPr>
      </p:sp>
      <p:sp>
        <p:nvSpPr>
          <p:cNvPr id="11" name="Text 9">
            <a:hlinkClick r:id="rId1" tooltip=""/>
          </p:cNvPr>
          <p:cNvSpPr/>
          <p:nvPr/>
        </p:nvSpPr>
        <p:spPr>
          <a:xfrm>
            <a:off x="2194560" y="4846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07080B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app 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206240" y="4846320"/>
            <a:ext cx="1828800" cy="502920"/>
          </a:xfrm>
          <a:prstGeom prst="roundRect">
            <a:avLst>
              <a:gd name="adj" fmla="val 54545"/>
            </a:avLst>
          </a:prstGeom>
          <a:solidFill>
            <a:srgbClr val="0D1117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3" name="Text 11">
            <a:hlinkClick r:id="rId2" tooltip=""/>
          </p:cNvPr>
          <p:cNvSpPr/>
          <p:nvPr/>
        </p:nvSpPr>
        <p:spPr>
          <a:xfrm>
            <a:off x="4206240" y="4846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 docs 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17920" y="4846320"/>
            <a:ext cx="1828800" cy="502920"/>
          </a:xfrm>
          <a:prstGeom prst="roundRect">
            <a:avLst>
              <a:gd name="adj" fmla="val 54545"/>
            </a:avLst>
          </a:prstGeom>
          <a:solidFill>
            <a:srgbClr val="0D1117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5" name="Text 13">
            <a:hlinkClick r:id="rId3" tooltip=""/>
          </p:cNvPr>
          <p:cNvSpPr/>
          <p:nvPr/>
        </p:nvSpPr>
        <p:spPr>
          <a:xfrm>
            <a:off x="6217920" y="4846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Twitter 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0" y="4846320"/>
            <a:ext cx="1828800" cy="502920"/>
          </a:xfrm>
          <a:prstGeom prst="roundRect">
            <a:avLst>
              <a:gd name="adj" fmla="val 54545"/>
            </a:avLst>
          </a:prstGeom>
          <a:solidFill>
            <a:srgbClr val="0D1117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7" name="Text 15">
            <a:hlinkClick r:id="rId4" tooltip=""/>
          </p:cNvPr>
          <p:cNvSpPr/>
          <p:nvPr/>
        </p:nvSpPr>
        <p:spPr>
          <a:xfrm>
            <a:off x="8229600" y="4846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Telegram →</a:t>
            </a:r>
            <a:endParaRPr lang="en-US" sz="1400" dirty="0"/>
          </a:p>
        </p:txBody>
      </p:sp>
      <p:sp>
        <p:nvSpPr>
          <p:cNvPr id="18" name="Text 16">
            <a:hlinkClick r:id="rId5" tooltip=""/>
          </p:cNvPr>
          <p:cNvSpPr/>
          <p:nvPr/>
        </p:nvSpPr>
        <p:spPr>
          <a:xfrm>
            <a:off x="1005840" y="5943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A0A0A0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app-swappilot.xyz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971800" y="594360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·</a:t>
            </a:r>
            <a:endParaRPr lang="en-US" sz="1100" dirty="0"/>
          </a:p>
        </p:txBody>
      </p:sp>
      <p:sp>
        <p:nvSpPr>
          <p:cNvPr id="20" name="Text 18">
            <a:hlinkClick r:id="rId6" tooltip=""/>
          </p:cNvPr>
          <p:cNvSpPr/>
          <p:nvPr/>
        </p:nvSpPr>
        <p:spPr>
          <a:xfrm>
            <a:off x="3154680" y="5943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A0A0A0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x.com/swappilotdex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66360" y="594360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·</a:t>
            </a:r>
            <a:endParaRPr lang="en-US" sz="1100" dirty="0"/>
          </a:p>
        </p:txBody>
      </p:sp>
      <p:sp>
        <p:nvSpPr>
          <p:cNvPr id="22" name="Text 20">
            <a:hlinkClick r:id="rId7" tooltip=""/>
          </p:cNvPr>
          <p:cNvSpPr/>
          <p:nvPr/>
        </p:nvSpPr>
        <p:spPr>
          <a:xfrm>
            <a:off x="5349240" y="59436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A0A0A0"/>
                </a:solidFill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t.me/swapPilot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995160" y="594360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·</a:t>
            </a:r>
            <a:endParaRPr lang="en-US" sz="1100" dirty="0"/>
          </a:p>
        </p:txBody>
      </p:sp>
      <p:sp>
        <p:nvSpPr>
          <p:cNvPr id="24" name="Text 22">
            <a:hlinkClick r:id="rId8" tooltip=""/>
          </p:cNvPr>
          <p:cNvSpPr/>
          <p:nvPr/>
        </p:nvSpPr>
        <p:spPr>
          <a:xfrm>
            <a:off x="7178040" y="594360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A0A0A0"/>
                </a:solidFill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github.com/BacBacta/SwapPilot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13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LEGAL NOTICE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Important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disclosures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Please read carefully before participating in the Public Sale.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389120" y="1188720"/>
            <a:ext cx="3657600" cy="1554480"/>
          </a:xfrm>
          <a:prstGeom prst="roundRect">
            <a:avLst>
              <a:gd name="adj" fmla="val 7059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13258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⚠️  Not financial advice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0" y="1691640"/>
            <a:ext cx="32918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This document is for informational purposes only. Nothing herein constitutes investment advice.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89120" y="2834640"/>
            <a:ext cx="3657600" cy="1554480"/>
          </a:xfrm>
          <a:prstGeom prst="roundRect">
            <a:avLst>
              <a:gd name="adj" fmla="val 7059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0" y="29718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📉  No guarantees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0" y="3337560"/>
            <a:ext cx="32918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PILOT token value may fluctuate. Past performance is not indicative of future results.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89120" y="4480560"/>
            <a:ext cx="3657600" cy="1554480"/>
          </a:xfrm>
          <a:prstGeom prst="roundRect">
            <a:avLst>
              <a:gd name="adj" fmla="val 7059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0" y="46177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⚖️  Regulatory uncertainty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0" y="4983480"/>
            <a:ext cx="32918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Cryptocurrency regulations vary by jurisdiction and are subject to change.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229600" y="1188720"/>
            <a:ext cx="3657600" cy="1554480"/>
          </a:xfrm>
          <a:prstGeom prst="roundRect">
            <a:avLst>
              <a:gd name="adj" fmla="val 7059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0" y="13258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🔧  Technology risks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412480" y="1691640"/>
            <a:ext cx="32918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Smart contracts carry inherent risks including bugs and exploits.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229600" y="2834640"/>
            <a:ext cx="3657600" cy="1554480"/>
          </a:xfrm>
          <a:prstGeom prst="roundRect">
            <a:avLst>
              <a:gd name="adj" fmla="val 7059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12480" y="29718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🔮  Forward-looking statements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412480" y="3337560"/>
            <a:ext cx="32918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Roadmap and projections are subject to change.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By participating in the Public Sale, you acknowledge that you have read and understood these disclosures.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SwapPilot Pitch Deck</dc:title>
  <dc:subject>DEX Aggregator on BNB Chain</dc:subject>
  <dc:creator>SwapPilot Team</dc:creator>
  <cp:lastModifiedBy>SwapPilot Team</cp:lastModifiedBy>
  <cp:revision>1</cp:revision>
  <dcterms:created xsi:type="dcterms:W3CDTF">2026-01-11T21:05:49Z</dcterms:created>
  <dcterms:modified xsi:type="dcterms:W3CDTF">2026-01-11T21:05:49Z</dcterms:modified>
</cp:coreProperties>
</file>