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6FF6A"/>
              </a:solidFill>
              <a:effectLst/>
            </c:spPr>
          </c:dPt>
          <c:dPt>
            <c:idx val="1"/>
            <c:bubble3D val="0"/>
            <c:spPr>
              <a:solidFill>
                <a:srgbClr val="8FCC55"/>
              </a:solidFill>
              <a:effectLst/>
            </c:spPr>
          </c:dPt>
          <c:dPt>
            <c:idx val="2"/>
            <c:bubble3D val="0"/>
            <c:spPr>
              <a:solidFill>
                <a:srgbClr val="7DD3FC"/>
              </a:solidFill>
              <a:effectLst/>
            </c:spPr>
          </c:dPt>
          <c:dPt>
            <c:idx val="3"/>
            <c:bubble3D val="0"/>
            <c:spPr>
              <a:solidFill>
                <a:srgbClr val="5AAFDC"/>
              </a:solidFill>
              <a:effectLst/>
            </c:spPr>
          </c:dPt>
          <c:dPt>
            <c:idx val="4"/>
            <c:bubble3D val="0"/>
            <c:spPr>
              <a:solidFill>
                <a:srgbClr val="5A5A5A"/>
              </a:solidFill>
              <a:effectLst/>
            </c:spPr>
          </c:dPt>
          <c:dPt>
            <c:idx val="5"/>
            <c:bubble3D val="0"/>
            <c:spPr>
              <a:solidFill>
                <a:srgbClr val="4A4A4A"/>
              </a:solidFill>
              <a:effectLst/>
            </c:spPr>
          </c:dPt>
          <c:dPt>
            <c:idx val="6"/>
            <c:bubble3D val="0"/>
            <c:spPr>
              <a:solidFill>
                <a:srgbClr val="3A3A3A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Public Sale</c:v>
                </c:pt>
                <c:pt idx="1">
                  <c:v>Treasury</c:v>
                </c:pt>
                <c:pt idx="2">
                  <c:v>CEX &amp; Marketing</c:v>
                </c:pt>
                <c:pt idx="3">
                  <c:v>Liquidity</c:v>
                </c:pt>
                <c:pt idx="4">
                  <c:v>Team</c:v>
                </c:pt>
                <c:pt idx="5">
                  <c:v>Advisors</c:v>
                </c:pt>
                <c:pt idx="6">
                  <c:v>Referral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20</c:v>
                </c:pt>
                <c:pt idx="2">
                  <c:v>12</c:v>
                </c:pt>
                <c:pt idx="3">
                  <c:v>12</c:v>
                </c:pt>
                <c:pt idx="4">
                  <c:v>11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firstSliceAng val="0"/>
        <c:holeSize val="70"/>
      </c:doughnutChart>
      <c:spPr>
        <a:solidFill>
          <a:srgbClr val="07080B"/>
        </a:solidFill>
        <a:ln>
          <a:noFill/>
        </a:ln>
        <a:effectLst/>
      </c:spPr>
    </c:plotArea>
    <c:plotVisOnly val="1"/>
    <c:dispBlanksAs val="span"/>
  </c:chart>
  <c:spPr>
    <a:solidFill>
      <a:srgbClr val="0708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🔀  Fragmented liquidity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💸  Hidden costs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Execution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🏆  BEQ (Best Executable Quote)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🧾  Decision transparency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🎚️  Risk modes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POST /v1/quotes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Rank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Explain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GET /v1/receipts/:id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Execute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🔗  10+ Providers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 Capabilities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🛡️  Risk signals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 Non-custodial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502920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375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📋  Decision data includes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325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63640" y="153619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app-swappilot.xyz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098280" y="118872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325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35440" y="153619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swappilot-api.fly.dev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12648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28803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63640" y="309067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09828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28803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35440" y="309067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/documentation/json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126480" y="42976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44348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46451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/v1/quotes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098280" y="42976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35440" y="44348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235440" y="46451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/v1/build-tx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💰  Fee engine (API)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🔥  Fee distribution (Contracts)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🤝  Referral incentives (Contracts)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77240" y="196596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77240" y="3246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1B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3703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PILOT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5120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0" y="16002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B6FF6A"/>
          </a:solidFill>
          <a:ln/>
        </p:spPr>
      </p:sp>
      <p:sp>
        <p:nvSpPr>
          <p:cNvPr id="15" name="Text 12"/>
          <p:cNvSpPr/>
          <p:nvPr/>
        </p:nvSpPr>
        <p:spPr>
          <a:xfrm>
            <a:off x="6473952" y="15544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15544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17920" y="22402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8FCC55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21945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21945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17920" y="2880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DD3FC"/>
          </a:solidFill>
          <a:ln/>
        </p:spPr>
      </p:sp>
      <p:sp>
        <p:nvSpPr>
          <p:cNvPr id="21" name="Text 18"/>
          <p:cNvSpPr/>
          <p:nvPr/>
        </p:nvSpPr>
        <p:spPr>
          <a:xfrm>
            <a:off x="6473952" y="2834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38160" y="28346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17920" y="35204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AFDC"/>
          </a:solidFill>
          <a:ln/>
        </p:spPr>
      </p:sp>
      <p:sp>
        <p:nvSpPr>
          <p:cNvPr id="24" name="Text 21"/>
          <p:cNvSpPr/>
          <p:nvPr/>
        </p:nvSpPr>
        <p:spPr>
          <a:xfrm>
            <a:off x="6473952" y="3474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38160" y="347472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17920" y="41605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5A5A"/>
          </a:solidFill>
          <a:ln/>
        </p:spPr>
      </p:sp>
      <p:sp>
        <p:nvSpPr>
          <p:cNvPr id="27" name="Text 24"/>
          <p:cNvSpPr/>
          <p:nvPr/>
        </p:nvSpPr>
        <p:spPr>
          <a:xfrm>
            <a:off x="6473952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138160" y="41148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17920" y="48006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4A4A4A"/>
          </a:solidFill>
          <a:ln/>
        </p:spPr>
      </p:sp>
      <p:sp>
        <p:nvSpPr>
          <p:cNvPr id="30" name="Text 27"/>
          <p:cNvSpPr/>
          <p:nvPr/>
        </p:nvSpPr>
        <p:spPr>
          <a:xfrm>
            <a:off x="6473952" y="47548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138160" y="47548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1792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3A3A3A"/>
          </a:solidFill>
          <a:ln/>
        </p:spPr>
      </p:sp>
      <p:sp>
        <p:nvSpPr>
          <p:cNvPr id="33" name="Text 30"/>
          <p:cNvSpPr/>
          <p:nvPr/>
        </p:nvSpPr>
        <p:spPr>
          <a:xfrm>
            <a:off x="6473952" y="53949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138160" y="53949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36192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1,000,000,000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36192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$0.0057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182112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$5.7M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182112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$966K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TGE Circulating Supply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📅  Milestones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16.95% at TGE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52.83% at Month 6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78.67% at Month 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Not financial advice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📉  No guarantees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0040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2976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4348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⚖️  Regulatory uncertainty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7548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1188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🔧  Technology risks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1645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🔮  Forward-looking statements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26880" y="320040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Roadmap and projections are subject to change.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2026-01-11T20:14:53Z</dcterms:created>
  <dcterms:modified xsi:type="dcterms:W3CDTF">2026-01-11T20:14:53Z</dcterms:modified>
</cp:coreProperties>
</file>